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f55e9e1-30fd-210c-607a-1f441fade34e}">
          <p14:sldIdLst>
            <p14:sldId id="256"/>
            <p14:sldId id="257"/>
          </p14:sldIdLst>
        </p14:section>
        <p14:section name="Method" id="{39b08ba6-4e91-1ad5-1c90-22a700611141}">
          <p14:sldIdLst>
            <p14:sldId id="258"/>
            <p14:sldId id="259"/>
            <p14:sldId id="260"/>
            <p14:sldId id="261"/>
          </p14:sldIdLst>
        </p14:section>
        <p14:section name="Results" id="{598c6ced-d324-f820-ab78-23abfa7e10dd}">
          <p14:sldIdLst>
            <p14:sldId id="262"/>
            <p14:sldId id="263"/>
            <p14:sldId id="264"/>
          </p14:sldIdLst>
        </p14:section>
        <p14:section name="Conclusion" id="{897c28cf-daff-d178-f252-97e2c49d395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outer"/>
          <p:cNvSpPr/>
          <p:nvPr/>
        </p:nvSpPr>
        <p:spPr>
          <a:xfrm>
            <a:off x="8229600" y="6400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Ring mid"/>
          <p:cNvSpPr/>
          <p:nvPr/>
        </p:nvSpPr>
        <p:spPr>
          <a:xfrm>
            <a:off x="8778240" y="1188720"/>
            <a:ext cx="3108960" cy="3108960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4" name="Lungs circle"/>
          <p:cNvSpPr/>
          <p:nvPr/>
        </p:nvSpPr>
        <p:spPr>
          <a:xfrm>
            <a:off x="9326880" y="17373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ungs icon" descr="Lu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2402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Machine Learning Mini-Project — UE24CS352A</a:t>
            </a:r>
            <a:endParaRPr lang="en-US" sz="1800" dirty="0"/>
          </a:p>
        </p:txBody>
      </p:sp>
      <p:sp>
        <p:nvSpPr>
          <p:cNvPr id="7" name="Title"/>
          <p:cNvSpPr txBox="1"/>
          <p:nvPr/>
        </p:nvSpPr>
        <p:spPr>
          <a:xfrm>
            <a:off x="731520" y="16002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Weakly Supervised Pneumonia Localization</a:t>
            </a:r>
            <a:endParaRPr lang="en-US" sz="4800" dirty="0"/>
          </a:p>
        </p:txBody>
      </p:sp>
      <p:sp>
        <p:nvSpPr>
          <p:cNvPr id="8" name="Tagline pill"/>
          <p:cNvSpPr/>
          <p:nvPr/>
        </p:nvSpPr>
        <p:spPr>
          <a:xfrm>
            <a:off x="731520" y="3794760"/>
            <a:ext cx="548640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794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CNN classification + CAM-based weak localization</a:t>
            </a:r>
            <a:endParaRPr lang="en-US" sz="1600" dirty="0"/>
          </a:p>
        </p:txBody>
      </p:sp>
      <p:sp>
        <p:nvSpPr>
          <p:cNvPr id="10" name="Author card 1"/>
          <p:cNvSpPr/>
          <p:nvPr/>
        </p:nvSpPr>
        <p:spPr>
          <a:xfrm>
            <a:off x="731520" y="49377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74B7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PES1UG24CS549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Ronit Prasad</a:t>
            </a:r>
            <a:endParaRPr lang="en-US" sz="2200" dirty="0"/>
          </a:p>
        </p:txBody>
      </p:sp>
      <p:sp>
        <p:nvSpPr>
          <p:cNvPr id="13" name="Author card 2"/>
          <p:cNvSpPr/>
          <p:nvPr/>
        </p:nvSpPr>
        <p:spPr>
          <a:xfrm>
            <a:off x="4160520" y="49377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74B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PES1UG24CS512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Vaibhava 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&amp; Motivation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Icon 1 circle"/>
          <p:cNvSpPr/>
          <p:nvPr/>
        </p:nvSpPr>
        <p:spPr>
          <a:xfrm>
            <a:off x="914400" y="22174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 icon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003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3736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Classify chest X-rays as Pneumonia / No Pneumonia.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6245352" y="146304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8" name="Icon 2 circle"/>
          <p:cNvSpPr/>
          <p:nvPr/>
        </p:nvSpPr>
        <p:spPr>
          <a:xfrm>
            <a:off x="6611112" y="22174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con 2 icon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003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6952" y="173736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Use image-level supervision to derive a localization region without using pneumonia boxes as localization training targets.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48640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Icon 3 circle"/>
          <p:cNvSpPr/>
          <p:nvPr/>
        </p:nvSpPr>
        <p:spPr>
          <a:xfrm>
            <a:off x="914400" y="47320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 3 icon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149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425196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CAM converts class evidence from the trained CNN into a spatial heatmap.</a:t>
            </a:r>
            <a:endParaRPr lang="en-US" sz="1800" dirty="0"/>
          </a:p>
        </p:txBody>
      </p:sp>
      <p:sp>
        <p:nvSpPr>
          <p:cNvPr id="15" name="Card 4"/>
          <p:cNvSpPr/>
          <p:nvPr/>
        </p:nvSpPr>
        <p:spPr>
          <a:xfrm>
            <a:off x="6245352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6" name="Icon 4 circle"/>
          <p:cNvSpPr/>
          <p:nvPr/>
        </p:nvSpPr>
        <p:spPr>
          <a:xfrm>
            <a:off x="6611112" y="47320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4 icon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9149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16952" y="425196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Evaluate the predicted region using Intersection over Union (IoU).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 &amp; Preprocessing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RSNA Pneumonia Detection Challenge DICOM chest X-rays.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Prepared split: 26,684 unique images</a:t>
            </a:r>
            <a:endParaRPr lang="en-US" sz="1600" dirty="0"/>
          </a:p>
        </p:txBody>
      </p:sp>
      <p:sp>
        <p:nvSpPr>
          <p:cNvPr id="5" name="Split card Train"/>
          <p:cNvSpPr/>
          <p:nvPr/>
        </p:nvSpPr>
        <p:spPr>
          <a:xfrm>
            <a:off x="548640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18,678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Positive images: 4,208</a:t>
            </a:r>
            <a:endParaRPr lang="en-US" sz="1400" dirty="0"/>
          </a:p>
        </p:txBody>
      </p:sp>
      <p:sp>
        <p:nvSpPr>
          <p:cNvPr id="9" name="Split card Validation"/>
          <p:cNvSpPr/>
          <p:nvPr/>
        </p:nvSpPr>
        <p:spPr>
          <a:xfrm>
            <a:off x="4311396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31436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1436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5,337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31436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Positive images: 1,203</a:t>
            </a:r>
            <a:endParaRPr lang="en-US" sz="1400" dirty="0"/>
          </a:p>
        </p:txBody>
      </p:sp>
      <p:sp>
        <p:nvSpPr>
          <p:cNvPr id="13" name="Split card Test"/>
          <p:cNvSpPr/>
          <p:nvPr/>
        </p:nvSpPr>
        <p:spPr>
          <a:xfrm>
            <a:off x="8074152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94192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2,669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Positive images: 601</a:t>
            </a:r>
            <a:endParaRPr lang="en-US" sz="1400" dirty="0"/>
          </a:p>
        </p:txBody>
      </p:sp>
      <p:sp>
        <p:nvSpPr>
          <p:cNvPr id="17" name="Preprocess step 1"/>
          <p:cNvSpPr/>
          <p:nvPr/>
        </p:nvSpPr>
        <p:spPr>
          <a:xfrm>
            <a:off x="548640" y="425196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DICOM percentile normalization</a:t>
            </a:r>
            <a:endParaRPr lang="en-US" sz="1600" dirty="0"/>
          </a:p>
        </p:txBody>
      </p:sp>
      <p:sp>
        <p:nvSpPr>
          <p:cNvPr id="19" name="Arrow 1"/>
          <p:cNvSpPr/>
          <p:nvPr/>
        </p:nvSpPr>
        <p:spPr>
          <a:xfrm>
            <a:off x="3840480" y="4453128"/>
            <a:ext cx="516636" cy="37490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0" name="Preprocess step 2"/>
          <p:cNvSpPr/>
          <p:nvPr/>
        </p:nvSpPr>
        <p:spPr>
          <a:xfrm>
            <a:off x="4539996" y="425196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39996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128×128 resize</a:t>
            </a:r>
            <a:endParaRPr lang="en-US" sz="1600" dirty="0"/>
          </a:p>
        </p:txBody>
      </p:sp>
      <p:sp>
        <p:nvSpPr>
          <p:cNvPr id="22" name="Arrow 2"/>
          <p:cNvSpPr/>
          <p:nvPr/>
        </p:nvSpPr>
        <p:spPr>
          <a:xfrm>
            <a:off x="7831836" y="4453128"/>
            <a:ext cx="516636" cy="37490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Preprocess step 3"/>
          <p:cNvSpPr/>
          <p:nvPr/>
        </p:nvSpPr>
        <p:spPr>
          <a:xfrm>
            <a:off x="8531352" y="425196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531352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per-image standardization</a:t>
            </a:r>
            <a:endParaRPr lang="en-US" sz="1600" dirty="0"/>
          </a:p>
        </p:txBody>
      </p:sp>
      <p:sp>
        <p:nvSpPr>
          <p:cNvPr id="25" name="Note card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3492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Raw multi-box annotations are collapsed to one image-level row; the first box is retained for the current evaluation.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 &amp; Training</a:t>
            </a:r>
            <a:endParaRPr lang="en-US" sz="3400" dirty="0"/>
          </a:p>
        </p:txBody>
      </p:sp>
      <p:sp>
        <p:nvSpPr>
          <p:cNvPr id="3" name="Architecture card 1"/>
          <p:cNvSpPr/>
          <p:nvPr/>
        </p:nvSpPr>
        <p:spPr>
          <a:xfrm>
            <a:off x="548640" y="1417320"/>
            <a:ext cx="6583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Arch icon 1 circle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rch icon 1 icon" descr="Arch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544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10 convolutional layers, 3×3 kernels, padding=1, ReLU activations.</a:t>
            </a:r>
            <a:endParaRPr lang="en-US" sz="1800" dirty="0"/>
          </a:p>
        </p:txBody>
      </p:sp>
      <p:sp>
        <p:nvSpPr>
          <p:cNvPr id="7" name="Architecture card 2"/>
          <p:cNvSpPr/>
          <p:nvPr/>
        </p:nvSpPr>
        <p:spPr>
          <a:xfrm>
            <a:off x="548640" y="2971800"/>
            <a:ext cx="6583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8" name="Arch icon 2 circle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rch icon 2 icon" descr="Arch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346329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31089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Max-pooling stages reduce spatial resolution; Global Average Pooling produces one value per final feature map.</a:t>
            </a:r>
            <a:endParaRPr lang="en-US" sz="1800" dirty="0"/>
          </a:p>
        </p:txBody>
      </p:sp>
      <p:sp>
        <p:nvSpPr>
          <p:cNvPr id="11" name="Architecture card 3"/>
          <p:cNvSpPr/>
          <p:nvPr/>
        </p:nvSpPr>
        <p:spPr>
          <a:xfrm>
            <a:off x="548640" y="4526280"/>
            <a:ext cx="6583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Arch icon 3 circle"/>
          <p:cNvSpPr/>
          <p:nvPr/>
        </p:nvSpPr>
        <p:spPr>
          <a:xfrm>
            <a:off x="868680" y="4846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rch icon 3 icon" descr="Arch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501777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46634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final fully connected layer maps 128 pooled features to 2 classes.</a:t>
            </a:r>
            <a:endParaRPr lang="en-US" sz="1800" dirty="0"/>
          </a:p>
        </p:txBody>
      </p:sp>
      <p:sp>
        <p:nvSpPr>
          <p:cNvPr id="15" name="Training card"/>
          <p:cNvSpPr/>
          <p:nvPr/>
        </p:nvSpPr>
        <p:spPr>
          <a:xfrm>
            <a:off x="7406640" y="1417320"/>
            <a:ext cx="4233672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6" name="Training icon circle"/>
          <p:cNvSpPr/>
          <p:nvPr/>
        </p:nvSpPr>
        <p:spPr>
          <a:xfrm>
            <a:off x="77724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raining icon icon" descr="Train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190881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0" y="2560320"/>
            <a:ext cx="3502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Adam; learning rate = 0.0001 (1e-4); batch size = 32; CrossEntropyLoss; 20 epochs; seed = 42.</a:t>
            </a:r>
            <a:endParaRPr lang="en-US" sz="1800" dirty="0"/>
          </a:p>
        </p:txBody>
      </p:sp>
      <p:sp>
        <p:nvSpPr>
          <p:cNvPr id="19" name="Checkpoint card"/>
          <p:cNvSpPr/>
          <p:nvPr/>
        </p:nvSpPr>
        <p:spPr>
          <a:xfrm>
            <a:off x="7406640" y="4297680"/>
            <a:ext cx="4233672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0" name="Checkpoint icon circle"/>
          <p:cNvSpPr/>
          <p:nvPr/>
        </p:nvSpPr>
        <p:spPr>
          <a:xfrm>
            <a:off x="7772400" y="48234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Checkpoint icon icon" descr="Checkpoin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130" y="494919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458200" y="443484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Best checkpoint selected using validation accuracy.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CAM Localization Pipeline</a:t>
            </a:r>
            <a:endParaRPr lang="en-US" sz="3400" dirty="0"/>
          </a:p>
        </p:txBody>
      </p:sp>
      <p:sp>
        <p:nvSpPr>
          <p:cNvPr id="3" name="Pipeline card 1"/>
          <p:cNvSpPr/>
          <p:nvPr/>
        </p:nvSpPr>
        <p:spPr>
          <a:xfrm>
            <a:off x="548640" y="1645920"/>
            <a:ext cx="1965960" cy="384048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Step circle 1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Run the trained CNN and obtain final convolutional feature maps.</a:t>
            </a:r>
            <a:endParaRPr lang="en-US" sz="1800" dirty="0"/>
          </a:p>
        </p:txBody>
      </p:sp>
      <p:sp>
        <p:nvSpPr>
          <p:cNvPr id="7" name="Pipeline card 2"/>
          <p:cNvSpPr/>
          <p:nvPr/>
        </p:nvSpPr>
        <p:spPr>
          <a:xfrm>
            <a:off x="2830068" y="1645920"/>
            <a:ext cx="1965960" cy="384048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8" name="Step circle 2"/>
          <p:cNvSpPr/>
          <p:nvPr/>
        </p:nvSpPr>
        <p:spPr>
          <a:xfrm>
            <a:off x="3104388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438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104388" y="301752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Use the Pneumonia-class fully connected weights to form CAM.</a:t>
            </a:r>
            <a:endParaRPr lang="en-US" sz="1800" dirty="0"/>
          </a:p>
        </p:txBody>
      </p:sp>
      <p:sp>
        <p:nvSpPr>
          <p:cNvPr id="11" name="Pipeline card 3"/>
          <p:cNvSpPr/>
          <p:nvPr/>
        </p:nvSpPr>
        <p:spPr>
          <a:xfrm>
            <a:off x="5111496" y="1645920"/>
            <a:ext cx="1965960" cy="384048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Step circle 3"/>
          <p:cNvSpPr/>
          <p:nvPr/>
        </p:nvSpPr>
        <p:spPr>
          <a:xfrm>
            <a:off x="5385816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85816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385816" y="301752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Normalize CAM → apply threshold → apply conservative chest-region constraint.</a:t>
            </a:r>
            <a:endParaRPr lang="en-US" sz="1800" dirty="0"/>
          </a:p>
        </p:txBody>
      </p:sp>
      <p:sp>
        <p:nvSpPr>
          <p:cNvPr id="15" name="Pipeline card 4"/>
          <p:cNvSpPr/>
          <p:nvPr/>
        </p:nvSpPr>
        <p:spPr>
          <a:xfrm>
            <a:off x="7392924" y="1645920"/>
            <a:ext cx="1965960" cy="384048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6" name="Step circle 4"/>
          <p:cNvSpPr/>
          <p:nvPr/>
        </p:nvSpPr>
        <p:spPr>
          <a:xfrm>
            <a:off x="7667244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67244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667244" y="301752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Extract connected components and use the largest component as the predicted region.</a:t>
            </a:r>
            <a:endParaRPr lang="en-US" sz="1800" dirty="0"/>
          </a:p>
        </p:txBody>
      </p:sp>
      <p:sp>
        <p:nvSpPr>
          <p:cNvPr id="19" name="Pipeline card 5"/>
          <p:cNvSpPr/>
          <p:nvPr/>
        </p:nvSpPr>
        <p:spPr>
          <a:xfrm>
            <a:off x="9674352" y="1645920"/>
            <a:ext cx="1965960" cy="384048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0" name="Step circle 5"/>
          <p:cNvSpPr/>
          <p:nvPr/>
        </p:nvSpPr>
        <p:spPr>
          <a:xfrm>
            <a:off x="9948672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48672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948672" y="301752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Compare the predicted box with the retained ground-truth box using IoU.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 Paper vs Our Implementation</a:t>
            </a:r>
            <a:endParaRPr lang="en-US" sz="3400" dirty="0"/>
          </a:p>
        </p:txBody>
      </p:sp>
      <p:sp>
        <p:nvSpPr>
          <p:cNvPr id="3" name="Reference card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Reference icon circle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Reference icon icon" descr="Referen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917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Reference paper: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U-Net lung segmentation + original/segmented inputs + 10-layer CNN + CAM.</a:t>
            </a:r>
            <a:endParaRPr lang="en-US" sz="1800" dirty="0"/>
          </a:p>
        </p:txBody>
      </p:sp>
      <p:sp>
        <p:nvSpPr>
          <p:cNvPr id="7" name="Ours card"/>
          <p:cNvSpPr/>
          <p:nvPr/>
        </p:nvSpPr>
        <p:spPr>
          <a:xfrm>
            <a:off x="6245352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8" name="Ours icon circle"/>
          <p:cNvSpPr/>
          <p:nvPr/>
        </p:nvSpPr>
        <p:spPr>
          <a:xfrm>
            <a:off x="6611112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Ours icon icon" descr="Ou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4917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25512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Our implementation: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normalized single-channel 128×128 X-ray + 10-layer CAM-compatible CNN.</a:t>
            </a:r>
            <a:endParaRPr lang="en-US" sz="1800" dirty="0"/>
          </a:p>
        </p:txBody>
      </p:sp>
      <p:sp>
        <p:nvSpPr>
          <p:cNvPr id="11" name="Note card 1"/>
          <p:cNvSpPr/>
          <p:nvPr/>
        </p:nvSpPr>
        <p:spPr>
          <a:xfrm>
            <a:off x="548640" y="4114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Note icon 1 circle"/>
          <p:cNvSpPr/>
          <p:nvPr/>
        </p:nvSpPr>
        <p:spPr>
          <a:xfrm>
            <a:off x="868680" y="4279392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Note icon 1 icon" descr="Note icon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256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11480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U-Net is trained because a second lung-mask training dataset is not available.</a:t>
            </a:r>
            <a:endParaRPr lang="en-US" sz="1800" dirty="0"/>
          </a:p>
        </p:txBody>
      </p:sp>
      <p:sp>
        <p:nvSpPr>
          <p:cNvPr id="15" name="Note card 2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6" name="Note icon 2 circle"/>
          <p:cNvSpPr/>
          <p:nvPr/>
        </p:nvSpPr>
        <p:spPr>
          <a:xfrm>
            <a:off x="868680" y="54223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Note icon 2 icon" descr="Note 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5686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525780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conservative chest-region ROI is applied during CAM post-processing instead.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Validation-Based Threshold Selection</a:t>
            </a:r>
            <a:endParaRPr lang="en-US" sz="3400" dirty="0"/>
          </a:p>
        </p:txBody>
      </p:sp>
      <p:sp>
        <p:nvSpPr>
          <p:cNvPr id="3" name="Threshold card 1"/>
          <p:cNvSpPr/>
          <p:nvPr/>
        </p:nvSpPr>
        <p:spPr>
          <a:xfrm>
            <a:off x="548640" y="141732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Classification threshold selected only on validation using F1.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23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703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Best validation classification threshold: 0.35; validation F1 = 59.98%.</a:t>
            </a:r>
            <a:endParaRPr lang="en-US" sz="1800" dirty="0"/>
          </a:p>
        </p:txBody>
      </p:sp>
      <p:sp>
        <p:nvSpPr>
          <p:cNvPr id="7" name="Threshold card 2"/>
          <p:cNvSpPr/>
          <p:nvPr/>
        </p:nvSpPr>
        <p:spPr>
          <a:xfrm>
            <a:off x="6245352" y="141732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56832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CAM thresholds tested: 0.20, 0.45, 0.70.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56832" y="2423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3703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Best validation CAM threshold: 0.20; validation mean IoU = 0.1050.</a:t>
            </a:r>
            <a:endParaRPr lang="en-US" sz="1800" dirty="0"/>
          </a:p>
        </p:txBody>
      </p:sp>
      <p:sp>
        <p:nvSpPr>
          <p:cNvPr id="11" name="Frozen banner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Lock circle"/>
          <p:cNvSpPr/>
          <p:nvPr/>
        </p:nvSpPr>
        <p:spPr>
          <a:xfrm>
            <a:off x="914400" y="527608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Lock icon" descr="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41324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37360" y="5120640"/>
            <a:ext cx="9537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Both thresholds were frozen before final test evaluation.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Final Test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Classification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2801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Localization</a:t>
            </a:r>
            <a:endParaRPr lang="en-US" sz="2000" dirty="0"/>
          </a:p>
        </p:txBody>
      </p:sp>
      <p:sp>
        <p:nvSpPr>
          <p:cNvPr id="5" name="Classification tile Accuracy"/>
          <p:cNvSpPr/>
          <p:nvPr/>
        </p:nvSpPr>
        <p:spPr>
          <a:xfrm>
            <a:off x="548640" y="169164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0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Classification tile Precision"/>
          <p:cNvSpPr/>
          <p:nvPr/>
        </p:nvSpPr>
        <p:spPr>
          <a:xfrm>
            <a:off x="3383280" y="169164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801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51.85%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50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1" name="Classification tile Recall"/>
          <p:cNvSpPr/>
          <p:nvPr/>
        </p:nvSpPr>
        <p:spPr>
          <a:xfrm>
            <a:off x="548640" y="28803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2990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67.72%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Recall</a:t>
            </a:r>
            <a:endParaRPr lang="en-US" sz="1400" dirty="0"/>
          </a:p>
        </p:txBody>
      </p:sp>
      <p:sp>
        <p:nvSpPr>
          <p:cNvPr id="14" name="Classification tile F1"/>
          <p:cNvSpPr/>
          <p:nvPr/>
        </p:nvSpPr>
        <p:spPr>
          <a:xfrm>
            <a:off x="3383280" y="28803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57600" y="2990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58.73%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F1</a:t>
            </a:r>
            <a:endParaRPr lang="en-US" sz="1400" dirty="0"/>
          </a:p>
        </p:txBody>
      </p:sp>
      <p:sp>
        <p:nvSpPr>
          <p:cNvPr id="17" name="Localization tile Mean IoU"/>
          <p:cNvSpPr/>
          <p:nvPr/>
        </p:nvSpPr>
        <p:spPr>
          <a:xfrm>
            <a:off x="6309360" y="1691640"/>
            <a:ext cx="2574036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1801368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0.1025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50008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Mean IoU</a:t>
            </a:r>
            <a:endParaRPr lang="en-US" sz="1400" dirty="0"/>
          </a:p>
        </p:txBody>
      </p:sp>
      <p:sp>
        <p:nvSpPr>
          <p:cNvPr id="20" name="Localization tile Median IoU"/>
          <p:cNvSpPr/>
          <p:nvPr/>
        </p:nvSpPr>
        <p:spPr>
          <a:xfrm>
            <a:off x="9066276" y="1691640"/>
            <a:ext cx="2574036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40596" y="1801368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0.0646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340596" y="2350008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Median IoU</a:t>
            </a:r>
            <a:endParaRPr lang="en-US" sz="1400" dirty="0"/>
          </a:p>
        </p:txBody>
      </p:sp>
      <p:sp>
        <p:nvSpPr>
          <p:cNvPr id="23" name="Localization tile IoU ≥ 0.3"/>
          <p:cNvSpPr/>
          <p:nvPr/>
        </p:nvSpPr>
        <p:spPr>
          <a:xfrm>
            <a:off x="6309360" y="2880360"/>
            <a:ext cx="2574036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2990088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7.82%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538728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IoU ≥ 0.3</a:t>
            </a:r>
            <a:endParaRPr lang="en-US" sz="1400" dirty="0"/>
          </a:p>
        </p:txBody>
      </p:sp>
      <p:sp>
        <p:nvSpPr>
          <p:cNvPr id="26" name="Localization tile IoU ≥ 0.5"/>
          <p:cNvSpPr/>
          <p:nvPr/>
        </p:nvSpPr>
        <p:spPr>
          <a:xfrm>
            <a:off x="9066276" y="2880360"/>
            <a:ext cx="2574036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340596" y="2990088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9340596" y="3538728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IoU ≥ 0.5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Confusion matrix:</a:t>
            </a:r>
            <a:endParaRPr lang="en-US" sz="1600" dirty="0"/>
          </a:p>
        </p:txBody>
      </p:sp>
      <p:graphicFrame>
        <p:nvGraphicFramePr>
          <p:cNvPr id="9" name="Confusion matr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Actual \ Predicted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 Pneumonia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Pneumonia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93A"/>
                          </a:solidFill>
                        </a:rPr>
                        <a:t>No Pneumonia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293A"/>
                          </a:solidFill>
                        </a:rPr>
                        <a:t>1690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93A"/>
                          </a:solidFill>
                        </a:rPr>
                        <a:t>378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93A"/>
                          </a:solidFill>
                        </a:rPr>
                        <a:t>Pneumonia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93A"/>
                          </a:solidFill>
                        </a:rPr>
                        <a:t>194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293A"/>
                          </a:solidFill>
                        </a:rPr>
                        <a:t>407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E6"/>
                    </a:solidFill>
                  </a:tcPr>
                </a:tc>
              </a:tr>
            </a:tbl>
          </a:graphicData>
        </a:graphic>
      </p:graphicFrame>
      <p:sp>
        <p:nvSpPr>
          <p:cNvPr id="31" name="Summary card"/>
          <p:cNvSpPr/>
          <p:nvPr/>
        </p:nvSpPr>
        <p:spPr>
          <a:xfrm>
            <a:off x="6309360" y="4114800"/>
            <a:ext cx="5330952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675120" y="4114800"/>
            <a:ext cx="4599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601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positive test images evaluated; </a:t>
            </a:r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194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classification misses; </a:t>
            </a:r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407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produced CAM boxes.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Qualitative Results</a:t>
            </a:r>
            <a:endParaRPr lang="en-US" sz="3400" dirty="0"/>
          </a:p>
        </p:txBody>
      </p:sp>
      <p:sp>
        <p:nvSpPr>
          <p:cNvPr id="3" name="Image frame 1"/>
          <p:cNvSpPr/>
          <p:nvPr/>
        </p:nvSpPr>
        <p:spPr>
          <a:xfrm>
            <a:off x="548640" y="1371600"/>
            <a:ext cx="8046720" cy="2231136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pic>
        <p:nvPicPr>
          <p:cNvPr id="4" name="Result image 1" descr="Best-case CAM localization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2048443"/>
          </a:xfrm>
          <a:prstGeom prst="rect">
            <a:avLst/>
          </a:prstGeom>
        </p:spPr>
      </p:pic>
      <p:sp>
        <p:nvSpPr>
          <p:cNvPr id="5" name="Caption card 1"/>
          <p:cNvSpPr/>
          <p:nvPr/>
        </p:nvSpPr>
        <p:spPr>
          <a:xfrm>
            <a:off x="8869680" y="1371600"/>
            <a:ext cx="2770632" cy="2231136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6" name="Caption icon 1 circle"/>
          <p:cNvSpPr/>
          <p:nvPr/>
        </p:nvSpPr>
        <p:spPr>
          <a:xfrm>
            <a:off x="9144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ption icon 1 icon" descr="Caption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7830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0" y="2286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Best case — IoU = 0.658: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predicted CAM region overlaps the ground truth.</a:t>
            </a:r>
            <a:endParaRPr lang="en-US" sz="1500" dirty="0"/>
          </a:p>
        </p:txBody>
      </p:sp>
      <p:sp>
        <p:nvSpPr>
          <p:cNvPr id="9" name="Image frame 2"/>
          <p:cNvSpPr/>
          <p:nvPr/>
        </p:nvSpPr>
        <p:spPr>
          <a:xfrm>
            <a:off x="548640" y="3840480"/>
            <a:ext cx="8046720" cy="2231136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pic>
        <p:nvPicPr>
          <p:cNvPr id="10" name="Result image 2" descr="Failure-case CAM localization exa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7863840" cy="2048443"/>
          </a:xfrm>
          <a:prstGeom prst="rect">
            <a:avLst/>
          </a:prstGeom>
        </p:spPr>
      </p:pic>
      <p:sp>
        <p:nvSpPr>
          <p:cNvPr id="11" name="Caption card 2"/>
          <p:cNvSpPr/>
          <p:nvPr/>
        </p:nvSpPr>
        <p:spPr>
          <a:xfrm>
            <a:off x="8869680" y="3840480"/>
            <a:ext cx="2770632" cy="2231136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2" name="Caption icon 2 circle"/>
          <p:cNvSpPr/>
          <p:nvPr/>
        </p:nvSpPr>
        <p:spPr>
          <a:xfrm>
            <a:off x="9144000" y="4114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Caption icon 2 icon" descr="Caption 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2519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0" y="4754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Failure case — IoU 0.000: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CAM focuses on an incorrect region.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Conclusion, Limitations &amp; Future Work</a:t>
            </a:r>
            <a:endParaRPr lang="en-US" sz="34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41732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4" name="Conclusion icon circle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nclusion icon icon" descr="Conclus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6517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End-to-end weakly supervised pneumonia classification + localization pipeline implemented.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Classification is substantially stronger than localization; precise localization remains difficult under weak supervision.</a:t>
            </a:r>
            <a:endParaRPr lang="en-US" sz="1800" dirty="0"/>
          </a:p>
        </p:txBody>
      </p:sp>
      <p:sp>
        <p:nvSpPr>
          <p:cNvPr id="8" name="Limitations card"/>
          <p:cNvSpPr/>
          <p:nvPr/>
        </p:nvSpPr>
        <p:spPr>
          <a:xfrm>
            <a:off x="5943600" y="1417320"/>
            <a:ext cx="569671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9" name="Limitations icon circle"/>
          <p:cNvSpPr/>
          <p:nvPr/>
        </p:nvSpPr>
        <p:spPr>
          <a:xfrm>
            <a:off x="6263640" y="21945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Limitations icon icon" descr="Limita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23431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600200"/>
            <a:ext cx="4279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Limitations: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128×128 resolution, CAM granularity, weak labels, false negatives, and first-box-only ground-truth retention.</a:t>
            </a:r>
            <a:endParaRPr lang="en-US" sz="1700" dirty="0"/>
          </a:p>
        </p:txBody>
      </p:sp>
      <p:sp>
        <p:nvSpPr>
          <p:cNvPr id="12" name="Future work card"/>
          <p:cNvSpPr/>
          <p:nvPr/>
        </p:nvSpPr>
        <p:spPr>
          <a:xfrm>
            <a:off x="5943600" y="3840480"/>
            <a:ext cx="569671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14300" dist="25400" dir="5400000">
              <a:srgbClr val="0B3C5D">
                <a:alpha val="14000"/>
              </a:srgbClr>
            </a:outerShdw>
          </a:effectLst>
        </p:spPr>
      </p:sp>
      <p:sp>
        <p:nvSpPr>
          <p:cNvPr id="13" name="Future work icon circle"/>
          <p:cNvSpPr/>
          <p:nvPr/>
        </p:nvSpPr>
        <p:spPr>
          <a:xfrm>
            <a:off x="6263640" y="4617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uture work icon icon" descr="Future wor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476631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4023360"/>
            <a:ext cx="4279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Future work: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higher resolution, transfer learning, stronger lung segmentation, improved CAM post-processing, multi-region localization.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 Teal">
  <a:themeElements>
    <a:clrScheme name="Clinical Teal">
      <a:dk1>
        <a:srgbClr val="16293A"/>
      </a:dk1>
      <a:lt1>
        <a:srgbClr val="FFFFFF"/>
      </a:lt1>
      <a:dk2>
        <a:srgbClr val="0B3C5D"/>
      </a:dk2>
      <a:lt2>
        <a:srgbClr val="E3EEF2"/>
      </a:lt2>
      <a:accent1>
        <a:srgbClr val="0E8A94"/>
      </a:accent1>
      <a:accent2>
        <a:srgbClr val="F2994A"/>
      </a:accent2>
      <a:accent3>
        <a:srgbClr val="D64550"/>
      </a:accent3>
      <a:accent4>
        <a:srgbClr val="3B82A0"/>
      </a:accent4>
      <a:accent5>
        <a:srgbClr val="8CC7CC"/>
      </a:accent5>
      <a:accent6>
        <a:srgbClr val="5B6B7A"/>
      </a:accent6>
      <a:hlink>
        <a:srgbClr val="0E8A94"/>
      </a:hlink>
      <a:folHlink>
        <a:srgbClr val="5B6B7A"/>
      </a:folHlink>
    </a:clrScheme>
    <a:fontScheme name="Clinical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Weakly Supervised Pneumonia Localization</dc:title>
  <dc:subject>PptxGenJS Presentation</dc:subject>
  <dc:creator>PptxGenJS</dc:creator>
  <cp:lastModifiedBy>PptxGenJS</cp:lastModifiedBy>
  <cp:revision>1</cp:revision>
  <dcterms:created xsi:type="dcterms:W3CDTF">2026-10-05T17:42:04Z</dcterms:created>
  <dcterms:modified xsi:type="dcterms:W3CDTF">2026-10-05T17:42:04Z</dcterms:modified>
</cp:coreProperties>
</file>